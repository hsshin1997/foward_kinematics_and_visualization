
<file path=[Content_Types].xml><?xml version="1.0" encoding="utf-8"?>
<Types xmlns="http://schemas.openxmlformats.org/package/2006/content-types">
  <Default Extension="avi" ContentType="video/x-msvideo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7" r:id="rId4"/>
    <p:sldId id="259" r:id="rId5"/>
    <p:sldId id="268" r:id="rId6"/>
    <p:sldId id="270" r:id="rId7"/>
    <p:sldId id="260" r:id="rId8"/>
    <p:sldId id="271" r:id="rId9"/>
    <p:sldId id="263" r:id="rId10"/>
    <p:sldId id="264" r:id="rId11"/>
    <p:sldId id="265" r:id="rId12"/>
    <p:sldId id="273" r:id="rId13"/>
    <p:sldId id="272" r:id="rId14"/>
    <p:sldId id="274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yun Seok Shin" initials="HSS" lastIdx="1" clrIdx="0">
    <p:extLst>
      <p:ext uri="{19B8F6BF-5375-455C-9EA6-DF929625EA0E}">
        <p15:presenceInfo xmlns:p15="http://schemas.microsoft.com/office/powerpoint/2012/main" userId="S::hss379@nyu.edu::9a227876-38a3-42bf-8fc1-4b166964da3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7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2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C464C-127C-4650-AD52-1ACBB1844C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37DD9B-8928-4D9B-B89A-6DB023D79D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C0F03-3DF7-4A80-A283-4C240256F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E4CC-E727-4330-AB6B-30A53988AADD}" type="datetimeFigureOut">
              <a:rPr lang="ko-KR" altLang="en-US" smtClean="0"/>
              <a:t>2020-11-23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9A9C16-EE94-492A-9A26-DE760B86C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10A93-7970-43F5-A5BD-A8B2B7B08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E32F0-66FC-48D8-BF63-F8E9298BA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1373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A67E9-0505-47B5-B479-B9F2ED205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D5FD5-4996-4E30-B0AA-11F786EC1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BA4A1-ACC8-466F-82F4-5CC6F887B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E4CC-E727-4330-AB6B-30A53988AADD}" type="datetimeFigureOut">
              <a:rPr lang="ko-KR" altLang="en-US" smtClean="0"/>
              <a:t>2020-11-23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4A35E-9FAB-4E66-82D3-D6A713DB7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AD0E4-68F3-4262-A858-DA41C0265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E32F0-66FC-48D8-BF63-F8E9298BA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9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7CBA8-0EA1-4EFB-9C7D-516AA8367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4B58A7-E664-4FBA-8D8A-6CB62F0486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E2255-A9E3-47C0-9E13-0B3B8F55F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E4CC-E727-4330-AB6B-30A53988AADD}" type="datetimeFigureOut">
              <a:rPr lang="ko-KR" altLang="en-US" smtClean="0"/>
              <a:t>2020-11-23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71A31-DF71-475B-A315-AAC8AFBE4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94F1A-7069-40E3-861E-B84E8AC12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E32F0-66FC-48D8-BF63-F8E9298BA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1449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8C497-78EA-4252-8B3A-CC234D427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FFA11-9505-4FC0-B507-8F2BA8EBA4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84C595-909F-4674-B0F0-0494AF0E3D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42E4F0-CC13-40E9-B885-F7EACECF1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E4CC-E727-4330-AB6B-30A53988AADD}" type="datetimeFigureOut">
              <a:rPr lang="ko-KR" altLang="en-US" smtClean="0"/>
              <a:t>2020-11-23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D83645-E5DD-4B76-B338-E6EA05C8E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73FDA0-92D1-4D3E-A11A-93C4CBDF3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E32F0-66FC-48D8-BF63-F8E9298BA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0012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5A2F-3B29-4421-B7AA-4E34F0C9B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A4CAC6-EDF5-4F7F-A654-4D908C9CE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8E913A-CAF1-42AD-8DC5-34F1BEA5C0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3C3255-E17D-4316-AFFD-317A0C180E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8B2F10-4D37-4C59-914B-2DCD2CBF69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BBA1A0-7501-442F-AA0D-AF4D6B9D3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E4CC-E727-4330-AB6B-30A53988AADD}" type="datetimeFigureOut">
              <a:rPr lang="ko-KR" altLang="en-US" smtClean="0"/>
              <a:t>2020-11-23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65814F-04DC-4C99-99C1-87D9C0FE8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33F5AE-B3D9-479E-BC2D-1D627B6E1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E32F0-66FC-48D8-BF63-F8E9298BA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0136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E1ACB-9C8F-421E-B09A-1F192B070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DAB977-C8C5-47AD-9C44-B7A8BC4E0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E4CC-E727-4330-AB6B-30A53988AADD}" type="datetimeFigureOut">
              <a:rPr lang="ko-KR" altLang="en-US" smtClean="0"/>
              <a:t>2020-11-23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4B413D-B8F2-4DF1-AF7F-C96F4B88A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9C02AD-6CF4-4B0B-8F81-D6B0BEABF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E32F0-66FC-48D8-BF63-F8E9298BA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94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72AD99-01F1-4B8F-A684-02A4382D3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E4CC-E727-4330-AB6B-30A53988AADD}" type="datetimeFigureOut">
              <a:rPr lang="ko-KR" altLang="en-US" smtClean="0"/>
              <a:t>2020-11-23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6F8624-8219-4B7A-B93B-0D259AB54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6DA9D7-6F89-470C-A0A2-99E99BDE4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E32F0-66FC-48D8-BF63-F8E9298BA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8606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4173A-9FDF-4764-997A-C2E1CB214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BB77A-A4C8-44CD-9AB3-0F224681F8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8D833A-A012-4163-B53F-7DAD9245E5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9BA6C3-CC32-430E-84D6-77A0A35D8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E4CC-E727-4330-AB6B-30A53988AADD}" type="datetimeFigureOut">
              <a:rPr lang="ko-KR" altLang="en-US" smtClean="0"/>
              <a:t>2020-11-23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F4518-022E-498A-8603-835E89CC8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449CCF-57D1-4BCB-86FC-D68B54ED9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E32F0-66FC-48D8-BF63-F8E9298BA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3947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1FB66-9E9A-49D8-A670-60B0C98E5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85766F-7173-469E-9052-F53673E0A5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6D6FA2-1A3E-44C6-BB63-7F7CA2095F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01329C-8C5F-4261-BA9A-0918986F8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E4CC-E727-4330-AB6B-30A53988AADD}" type="datetimeFigureOut">
              <a:rPr lang="ko-KR" altLang="en-US" smtClean="0"/>
              <a:t>2020-11-23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0E2AD7-C325-4BD1-82B7-A0F8B3405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0669B8-8155-446F-892B-1923BE041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E32F0-66FC-48D8-BF63-F8E9298BA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2037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95BF1-9818-41BC-97BF-CBE48C3AC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90578-55F1-4227-BF2E-600FC23FE9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9EFB8-2167-4003-B08B-604859901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E4CC-E727-4330-AB6B-30A53988AADD}" type="datetimeFigureOut">
              <a:rPr lang="ko-KR" altLang="en-US" smtClean="0"/>
              <a:t>2020-11-23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D6CA96-2B7D-4796-99F0-144512F47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6D492-B79F-4AF4-83A5-04EC1C042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E32F0-66FC-48D8-BF63-F8E9298BA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6586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FF9612-1CA1-4085-8021-DDBA45721A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769572-5F42-46A8-8BAD-DC44097AC6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EB22CB-B46A-42A7-A560-B37999F07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E4CC-E727-4330-AB6B-30A53988AADD}" type="datetimeFigureOut">
              <a:rPr lang="ko-KR" altLang="en-US" smtClean="0"/>
              <a:t>2020-11-23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6C68B-EFF4-41C7-86EF-F024EE0CC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DAA81-5278-4450-9842-0B87A626C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E32F0-66FC-48D8-BF63-F8E9298BA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6341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45C3DD-F309-41BD-9D22-93CBD9D9A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5C234F-CBEE-4105-B44E-CEA82B7D89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0184F-81E8-4170-9517-145AC72B8E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92E4CC-E727-4330-AB6B-30A53988AADD}" type="datetimeFigureOut">
              <a:rPr lang="ko-KR" altLang="en-US" smtClean="0"/>
              <a:t>2020-11-23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2A3CB-FFAB-454B-A8BB-9BABEED6A9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64FB7-850F-458C-9647-19D6C0C9EE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CE32F0-66FC-48D8-BF63-F8E9298BA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943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media" Target="../media/media2.mp4"/><Relationship Id="rId7" Type="http://schemas.openxmlformats.org/officeDocument/2006/relationships/image" Target="../media/image2.png"/><Relationship Id="rId2" Type="http://schemas.openxmlformats.org/officeDocument/2006/relationships/video" Target="../media/media1.avi"/><Relationship Id="rId1" Type="http://schemas.microsoft.com/office/2007/relationships/media" Target="../media/media1.avi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2.mp4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96000-8795-4F02-A7A2-747C231870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Forward Kinematics and Visualization</a:t>
            </a:r>
            <a:endParaRPr lang="ko-KR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00EC87-7D37-4813-BF5B-C40B8DEE3A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Hyun Seok Shin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77044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E0065-280B-4E8C-AC43-16ACD5FB2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/>
              <a:t>Table of contents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FF0B3-FF9E-4ECB-91EB-52E3E7A4D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altLang="ko-KR" dirty="0"/>
              <a:t>Overall structure</a:t>
            </a:r>
          </a:p>
          <a:p>
            <a:pPr marL="514350" indent="-514350">
              <a:buAutoNum type="arabicPeriod"/>
            </a:pPr>
            <a:r>
              <a:rPr lang="en-US" altLang="ko-KR" dirty="0"/>
              <a:t>Forward kinematics</a:t>
            </a:r>
          </a:p>
          <a:p>
            <a:pPr marL="514350" indent="-514350">
              <a:buAutoNum type="arabicPeriod"/>
            </a:pPr>
            <a:r>
              <a:rPr lang="en-US" altLang="ko-KR" dirty="0"/>
              <a:t>Visualization</a:t>
            </a:r>
          </a:p>
        </p:txBody>
      </p:sp>
    </p:spTree>
    <p:extLst>
      <p:ext uri="{BB962C8B-B14F-4D97-AF65-F5344CB8AC3E}">
        <p14:creationId xmlns:p14="http://schemas.microsoft.com/office/powerpoint/2010/main" val="583085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B5868-69DB-47CC-91DA-09C0313AC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/>
              <a:t>Structure of the code </a:t>
            </a:r>
            <a:br>
              <a:rPr lang="en-US" altLang="ko-KR" dirty="0"/>
            </a:br>
            <a:r>
              <a:rPr lang="en-US" altLang="ko-KR" sz="3600" dirty="0"/>
              <a:t>(forward kinematics + visualization)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735F06-7EB9-4080-804D-4C55CE39F173}"/>
              </a:ext>
            </a:extLst>
          </p:cNvPr>
          <p:cNvSpPr txBox="1"/>
          <p:nvPr/>
        </p:nvSpPr>
        <p:spPr>
          <a:xfrm>
            <a:off x="4291053" y="2878374"/>
            <a:ext cx="1804947" cy="64633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Forward Kinematics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9D3B9A-19CE-4F35-8531-ED0AB2969414}"/>
              </a:ext>
            </a:extLst>
          </p:cNvPr>
          <p:cNvSpPr txBox="1"/>
          <p:nvPr/>
        </p:nvSpPr>
        <p:spPr>
          <a:xfrm>
            <a:off x="7900418" y="3016873"/>
            <a:ext cx="1804947" cy="3693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Visualization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9FC8C-4BF8-4615-8C4A-6F066A13FC8E}"/>
              </a:ext>
            </a:extLst>
          </p:cNvPr>
          <p:cNvSpPr txBox="1"/>
          <p:nvPr/>
        </p:nvSpPr>
        <p:spPr>
          <a:xfrm>
            <a:off x="5543344" y="3744278"/>
            <a:ext cx="5111489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Outputs of forward kinematics (w.r.t global frame in cartesian space):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Joint 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link orientation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CoM of each links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CoM of the whole system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D782DCA-2DF3-47E5-8F06-32C1257D501E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2936867" y="3201539"/>
            <a:ext cx="1354186" cy="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985224A-6C54-486A-BA99-D9EFE255B39E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6096000" y="3201539"/>
            <a:ext cx="1804418" cy="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B303CB5-3A80-40D4-95DE-DB696B09DD2C}"/>
              </a:ext>
            </a:extLst>
          </p:cNvPr>
          <p:cNvSpPr txBox="1"/>
          <p:nvPr/>
        </p:nvSpPr>
        <p:spPr>
          <a:xfrm>
            <a:off x="241598" y="2658801"/>
            <a:ext cx="4358811" cy="230832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Inputs: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DH 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Link length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Mass properties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Joint angles (Optional)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Code will automatically handle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if there is no joint angles, joint angles = 0</a:t>
            </a:r>
          </a:p>
        </p:txBody>
      </p:sp>
    </p:spTree>
    <p:extLst>
      <p:ext uri="{BB962C8B-B14F-4D97-AF65-F5344CB8AC3E}">
        <p14:creationId xmlns:p14="http://schemas.microsoft.com/office/powerpoint/2010/main" val="2729247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03460-521E-4D70-9B24-61E430E0D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/>
              <a:t>Algorithm of forward kinematics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D9E5E0-B155-403C-BE8F-0B8A5303A29C}"/>
              </a:ext>
            </a:extLst>
          </p:cNvPr>
          <p:cNvSpPr txBox="1"/>
          <p:nvPr/>
        </p:nvSpPr>
        <p:spPr>
          <a:xfrm>
            <a:off x="5351891" y="2003494"/>
            <a:ext cx="180494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Parent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E0040D-90ED-43CB-B199-643C92E43A4E}"/>
              </a:ext>
            </a:extLst>
          </p:cNvPr>
          <p:cNvSpPr txBox="1"/>
          <p:nvPr/>
        </p:nvSpPr>
        <p:spPr>
          <a:xfrm>
            <a:off x="2395331" y="2767256"/>
            <a:ext cx="2120348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Child 1 (has the least amount of grandchild)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E2A52B-AEFA-4D55-A3EC-A33567C25C7D}"/>
              </a:ext>
            </a:extLst>
          </p:cNvPr>
          <p:cNvSpPr txBox="1"/>
          <p:nvPr/>
        </p:nvSpPr>
        <p:spPr>
          <a:xfrm>
            <a:off x="8034131" y="2767256"/>
            <a:ext cx="2120348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Child </a:t>
            </a:r>
            <a:r>
              <a:rPr lang="en-US" altLang="ko-KR" i="1" dirty="0"/>
              <a:t>N</a:t>
            </a:r>
            <a:r>
              <a:rPr lang="en-US" altLang="ko-KR" dirty="0"/>
              <a:t> (has the greatest amount of grandchild)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ABC3CC-2437-419A-82FD-37CE54D72E18}"/>
              </a:ext>
            </a:extLst>
          </p:cNvPr>
          <p:cNvSpPr txBox="1"/>
          <p:nvPr/>
        </p:nvSpPr>
        <p:spPr>
          <a:xfrm>
            <a:off x="5356529" y="3044255"/>
            <a:ext cx="180494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Child </a:t>
            </a:r>
            <a:r>
              <a:rPr lang="en-US" altLang="ko-KR" i="1" dirty="0"/>
              <a:t>n</a:t>
            </a:r>
            <a:endParaRPr lang="ko-KR" altLang="en-US"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CB795F-9AA7-4601-BA91-307CF7E654FE}"/>
              </a:ext>
            </a:extLst>
          </p:cNvPr>
          <p:cNvSpPr txBox="1"/>
          <p:nvPr/>
        </p:nvSpPr>
        <p:spPr>
          <a:xfrm>
            <a:off x="838200" y="4366793"/>
            <a:ext cx="2120348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Grandchild 1 (has the least amount of grand grandchild)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79DED4-1DC7-4235-91D9-4F1A7FAE0386}"/>
              </a:ext>
            </a:extLst>
          </p:cNvPr>
          <p:cNvSpPr txBox="1"/>
          <p:nvPr/>
        </p:nvSpPr>
        <p:spPr>
          <a:xfrm>
            <a:off x="3980291" y="4366793"/>
            <a:ext cx="2120348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Grandchild </a:t>
            </a:r>
            <a:r>
              <a:rPr lang="en-US" altLang="ko-KR" i="1" dirty="0"/>
              <a:t>N</a:t>
            </a:r>
            <a:r>
              <a:rPr lang="en-US" altLang="ko-KR" dirty="0"/>
              <a:t> (has the least amount of grand grandchild)</a:t>
            </a:r>
            <a:endParaRPr lang="ko-KR" alt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C6ACA19-FCF2-4E28-9535-BFA7B30AA78F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3455505" y="2372826"/>
            <a:ext cx="2798860" cy="39443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213B4F3-DEC8-4CA7-95DE-20CB06F653CC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>
            <a:off x="6254365" y="2372826"/>
            <a:ext cx="2839940" cy="39443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4202F7B-5D4E-4153-A13A-8C2BF3ADC9D1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6254365" y="2372826"/>
            <a:ext cx="4638" cy="67142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AD6D9A1-3EBF-48F2-81A4-BE9DE473935E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flipH="1">
            <a:off x="1898374" y="3690586"/>
            <a:ext cx="1557131" cy="67620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1329201-9BB1-4818-9070-666544AE5BED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>
            <a:off x="3455505" y="3690586"/>
            <a:ext cx="1584960" cy="67620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5D0DA2E-CDAD-496B-A7A1-2072429942A0}"/>
              </a:ext>
            </a:extLst>
          </p:cNvPr>
          <p:cNvSpPr txBox="1"/>
          <p:nvPr/>
        </p:nvSpPr>
        <p:spPr>
          <a:xfrm>
            <a:off x="4602149" y="3044255"/>
            <a:ext cx="667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ym typeface="Wingdings" panose="05000000000000000000" pitchFamily="2" charset="2"/>
              </a:rPr>
              <a:t></a:t>
            </a:r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1710CCC-E588-44E5-80FE-8DF03C2B855D}"/>
              </a:ext>
            </a:extLst>
          </p:cNvPr>
          <p:cNvSpPr txBox="1"/>
          <p:nvPr/>
        </p:nvSpPr>
        <p:spPr>
          <a:xfrm>
            <a:off x="7276439" y="3041173"/>
            <a:ext cx="667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ym typeface="Wingdings" panose="05000000000000000000" pitchFamily="2" charset="2"/>
              </a:rPr>
              <a:t></a:t>
            </a:r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30D9FBB-535E-4B4E-B383-29982DE55D1B}"/>
              </a:ext>
            </a:extLst>
          </p:cNvPr>
          <p:cNvSpPr txBox="1"/>
          <p:nvPr/>
        </p:nvSpPr>
        <p:spPr>
          <a:xfrm>
            <a:off x="3135465" y="4782291"/>
            <a:ext cx="667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ym typeface="Wingdings" panose="05000000000000000000" pitchFamily="2" charset="2"/>
              </a:rPr>
              <a:t>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E0D96F-7ED6-41C1-9D3B-457DD383A23F}"/>
              </a:ext>
            </a:extLst>
          </p:cNvPr>
          <p:cNvSpPr txBox="1"/>
          <p:nvPr/>
        </p:nvSpPr>
        <p:spPr>
          <a:xfrm>
            <a:off x="7815533" y="4476061"/>
            <a:ext cx="2834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Detail in the document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1376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7A4CC-B1E8-479D-A846-B564CD7FA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/>
              <a:t>e.g. OP 1 and OP 3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53A0DA-B18C-49B4-87B7-9C44EA40AB0F}"/>
              </a:ext>
            </a:extLst>
          </p:cNvPr>
          <p:cNvSpPr txBox="1"/>
          <p:nvPr/>
        </p:nvSpPr>
        <p:spPr>
          <a:xfrm>
            <a:off x="5193526" y="2414258"/>
            <a:ext cx="180494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Fictitious Branch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248E3B-1E25-4E5B-A1BF-ECC4D3D2EBDE}"/>
              </a:ext>
            </a:extLst>
          </p:cNvPr>
          <p:cNvSpPr txBox="1"/>
          <p:nvPr/>
        </p:nvSpPr>
        <p:spPr>
          <a:xfrm>
            <a:off x="265043" y="4144215"/>
            <a:ext cx="212034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Right Leg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126AC6-5B0A-4782-8E48-44E9EE924231}"/>
              </a:ext>
            </a:extLst>
          </p:cNvPr>
          <p:cNvSpPr txBox="1"/>
          <p:nvPr/>
        </p:nvSpPr>
        <p:spPr>
          <a:xfrm>
            <a:off x="2603387" y="4144215"/>
            <a:ext cx="212034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Left Leg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8C4576-194B-421A-AA43-F6D9BE0AEC65}"/>
              </a:ext>
            </a:extLst>
          </p:cNvPr>
          <p:cNvSpPr txBox="1"/>
          <p:nvPr/>
        </p:nvSpPr>
        <p:spPr>
          <a:xfrm>
            <a:off x="5045102" y="4144215"/>
            <a:ext cx="212034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Neck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43407B-6F1B-48E9-B2D9-7B521C24A9F8}"/>
              </a:ext>
            </a:extLst>
          </p:cNvPr>
          <p:cNvSpPr txBox="1"/>
          <p:nvPr/>
        </p:nvSpPr>
        <p:spPr>
          <a:xfrm>
            <a:off x="7395372" y="4152570"/>
            <a:ext cx="212034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Right Arm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BB821A-184A-4D3A-A73B-815152944789}"/>
              </a:ext>
            </a:extLst>
          </p:cNvPr>
          <p:cNvSpPr txBox="1"/>
          <p:nvPr/>
        </p:nvSpPr>
        <p:spPr>
          <a:xfrm>
            <a:off x="9745642" y="4152570"/>
            <a:ext cx="212034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Left Arm</a:t>
            </a:r>
            <a:endParaRPr lang="ko-KR" alt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CD838A7-D7E0-40EA-9875-8EE70DF1533F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1221848" y="3060589"/>
            <a:ext cx="4874152" cy="108362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964052D-376C-4A44-B6CE-EBE901E93E42}"/>
              </a:ext>
            </a:extLst>
          </p:cNvPr>
          <p:cNvCxnSpPr>
            <a:cxnSpLocks/>
            <a:stCxn id="4" idx="2"/>
            <a:endCxn id="12" idx="0"/>
          </p:cNvCxnSpPr>
          <p:nvPr/>
        </p:nvCxnSpPr>
        <p:spPr>
          <a:xfrm flipH="1">
            <a:off x="3663561" y="3060589"/>
            <a:ext cx="2432439" cy="108362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32CD2FE-76B1-4922-9455-3E7940EA06D1}"/>
              </a:ext>
            </a:extLst>
          </p:cNvPr>
          <p:cNvCxnSpPr>
            <a:cxnSpLocks/>
            <a:stCxn id="4" idx="2"/>
            <a:endCxn id="13" idx="0"/>
          </p:cNvCxnSpPr>
          <p:nvPr/>
        </p:nvCxnSpPr>
        <p:spPr>
          <a:xfrm>
            <a:off x="6096000" y="3060589"/>
            <a:ext cx="9276" cy="108362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5279B80-B35B-4BAA-A273-786CF7FF33DC}"/>
              </a:ext>
            </a:extLst>
          </p:cNvPr>
          <p:cNvCxnSpPr>
            <a:cxnSpLocks/>
            <a:stCxn id="4" idx="2"/>
            <a:endCxn id="14" idx="0"/>
          </p:cNvCxnSpPr>
          <p:nvPr/>
        </p:nvCxnSpPr>
        <p:spPr>
          <a:xfrm>
            <a:off x="6096000" y="3060589"/>
            <a:ext cx="2359546" cy="109198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90D6263-ACFA-4F23-A244-8BFF7CB5715C}"/>
              </a:ext>
            </a:extLst>
          </p:cNvPr>
          <p:cNvCxnSpPr>
            <a:cxnSpLocks/>
            <a:stCxn id="4" idx="2"/>
            <a:endCxn id="15" idx="0"/>
          </p:cNvCxnSpPr>
          <p:nvPr/>
        </p:nvCxnSpPr>
        <p:spPr>
          <a:xfrm>
            <a:off x="6096000" y="3060589"/>
            <a:ext cx="4709816" cy="109198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FCFBFA5-E8FA-4214-B67C-DC6A27312C98}"/>
              </a:ext>
            </a:extLst>
          </p:cNvPr>
          <p:cNvSpPr txBox="1"/>
          <p:nvPr/>
        </p:nvSpPr>
        <p:spPr>
          <a:xfrm>
            <a:off x="7878792" y="5395657"/>
            <a:ext cx="38243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The body mass is attached to the first link of the right arm.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03426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7A4CC-B1E8-479D-A846-B564CD7FA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/>
              <a:t>e.g. Human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53A0DA-B18C-49B4-87B7-9C44EA40AB0F}"/>
              </a:ext>
            </a:extLst>
          </p:cNvPr>
          <p:cNvSpPr txBox="1"/>
          <p:nvPr/>
        </p:nvSpPr>
        <p:spPr>
          <a:xfrm>
            <a:off x="5218043" y="2104157"/>
            <a:ext cx="180494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Fictitious Branch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248E3B-1E25-4E5B-A1BF-ECC4D3D2EBDE}"/>
              </a:ext>
            </a:extLst>
          </p:cNvPr>
          <p:cNvSpPr txBox="1"/>
          <p:nvPr/>
        </p:nvSpPr>
        <p:spPr>
          <a:xfrm>
            <a:off x="838200" y="3345199"/>
            <a:ext cx="212034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Right Leg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126AC6-5B0A-4782-8E48-44E9EE924231}"/>
              </a:ext>
            </a:extLst>
          </p:cNvPr>
          <p:cNvSpPr txBox="1"/>
          <p:nvPr/>
        </p:nvSpPr>
        <p:spPr>
          <a:xfrm>
            <a:off x="3580075" y="3345199"/>
            <a:ext cx="212034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Left Leg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8C4576-194B-421A-AA43-F6D9BE0AEC65}"/>
              </a:ext>
            </a:extLst>
          </p:cNvPr>
          <p:cNvSpPr txBox="1"/>
          <p:nvPr/>
        </p:nvSpPr>
        <p:spPr>
          <a:xfrm>
            <a:off x="4640249" y="4816943"/>
            <a:ext cx="212034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Neck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43407B-6F1B-48E9-B2D9-7B521C24A9F8}"/>
              </a:ext>
            </a:extLst>
          </p:cNvPr>
          <p:cNvSpPr txBox="1"/>
          <p:nvPr/>
        </p:nvSpPr>
        <p:spPr>
          <a:xfrm>
            <a:off x="7316526" y="4816943"/>
            <a:ext cx="212034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Right Arm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BB821A-184A-4D3A-A73B-815152944789}"/>
              </a:ext>
            </a:extLst>
          </p:cNvPr>
          <p:cNvSpPr txBox="1"/>
          <p:nvPr/>
        </p:nvSpPr>
        <p:spPr>
          <a:xfrm>
            <a:off x="9921237" y="4816943"/>
            <a:ext cx="212034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Left Arm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6F8C1E-4A05-4384-B450-9A8A77666A44}"/>
              </a:ext>
            </a:extLst>
          </p:cNvPr>
          <p:cNvSpPr txBox="1"/>
          <p:nvPr/>
        </p:nvSpPr>
        <p:spPr>
          <a:xfrm>
            <a:off x="7311884" y="3345199"/>
            <a:ext cx="212034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Torso</a:t>
            </a:r>
            <a:endParaRPr lang="ko-KR" alt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35AA9FC-6DBD-4063-831E-B215B74CB262}"/>
              </a:ext>
            </a:extLst>
          </p:cNvPr>
          <p:cNvCxnSpPr>
            <a:cxnSpLocks/>
            <a:stCxn id="4" idx="2"/>
            <a:endCxn id="9" idx="0"/>
          </p:cNvCxnSpPr>
          <p:nvPr/>
        </p:nvCxnSpPr>
        <p:spPr>
          <a:xfrm>
            <a:off x="6120517" y="2750488"/>
            <a:ext cx="2251541" cy="59471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F1B3515-A1F5-467D-A1EE-FAC1478157D2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1898374" y="2750488"/>
            <a:ext cx="4222143" cy="59471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F05FCF6-641D-4485-9099-AD14FBFD17C7}"/>
              </a:ext>
            </a:extLst>
          </p:cNvPr>
          <p:cNvCxnSpPr>
            <a:cxnSpLocks/>
            <a:stCxn id="4" idx="2"/>
            <a:endCxn id="12" idx="0"/>
          </p:cNvCxnSpPr>
          <p:nvPr/>
        </p:nvCxnSpPr>
        <p:spPr>
          <a:xfrm flipH="1">
            <a:off x="4640249" y="2750488"/>
            <a:ext cx="1480268" cy="59471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3B2A0D7-4E17-4EAC-AE7E-49F148FC219D}"/>
              </a:ext>
            </a:extLst>
          </p:cNvPr>
          <p:cNvCxnSpPr>
            <a:cxnSpLocks/>
            <a:stCxn id="9" idx="2"/>
            <a:endCxn id="13" idx="0"/>
          </p:cNvCxnSpPr>
          <p:nvPr/>
        </p:nvCxnSpPr>
        <p:spPr>
          <a:xfrm flipH="1">
            <a:off x="5700423" y="3714531"/>
            <a:ext cx="2671635" cy="110241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D61CD40-B4A2-43E2-BC28-B2B13B9164A9}"/>
              </a:ext>
            </a:extLst>
          </p:cNvPr>
          <p:cNvCxnSpPr>
            <a:cxnSpLocks/>
            <a:stCxn id="9" idx="2"/>
            <a:endCxn id="14" idx="0"/>
          </p:cNvCxnSpPr>
          <p:nvPr/>
        </p:nvCxnSpPr>
        <p:spPr>
          <a:xfrm>
            <a:off x="8372058" y="3714531"/>
            <a:ext cx="4642" cy="110241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6DA947F-87E2-40B8-B39A-2229496B3DD1}"/>
              </a:ext>
            </a:extLst>
          </p:cNvPr>
          <p:cNvCxnSpPr>
            <a:cxnSpLocks/>
            <a:stCxn id="9" idx="2"/>
            <a:endCxn id="15" idx="0"/>
          </p:cNvCxnSpPr>
          <p:nvPr/>
        </p:nvCxnSpPr>
        <p:spPr>
          <a:xfrm>
            <a:off x="8372058" y="3714531"/>
            <a:ext cx="2609353" cy="110241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485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616C4-B992-4457-BB54-D83C6A918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/>
              <a:t>Output of forward kinematics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801C0-6C5F-45F1-83DA-41A11CDAED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u="sng" dirty="0"/>
              <a:t>Joint positions</a:t>
            </a:r>
            <a:r>
              <a:rPr lang="en-US" altLang="ko-KR" dirty="0"/>
              <a:t> w.r.t. global frame along time in cartesian space</a:t>
            </a:r>
          </a:p>
          <a:p>
            <a:r>
              <a:rPr lang="en-US" altLang="ko-KR" u="sng" dirty="0"/>
              <a:t>Link orientation</a:t>
            </a:r>
            <a:r>
              <a:rPr lang="en-US" altLang="ko-KR" dirty="0"/>
              <a:t> w.r.t. global frame along time</a:t>
            </a:r>
          </a:p>
          <a:p>
            <a:r>
              <a:rPr lang="en-US" altLang="ko-KR" u="sng" dirty="0"/>
              <a:t>CoM of whole body and each links</a:t>
            </a:r>
            <a:r>
              <a:rPr lang="en-US" altLang="ko-KR" dirty="0"/>
              <a:t> w.r.t. global frame along time in cartesian space</a:t>
            </a:r>
          </a:p>
          <a:p>
            <a:pPr lvl="1"/>
            <a:r>
              <a:rPr lang="en-US" altLang="ko-KR" dirty="0"/>
              <a:t>{ 1 X</a:t>
            </a:r>
            <a:r>
              <a:rPr lang="en-US" altLang="ko-KR" i="1" dirty="0">
                <a:sym typeface="Wingdings" panose="05000000000000000000" pitchFamily="2" charset="2"/>
              </a:rPr>
              <a:t> N</a:t>
            </a:r>
            <a:r>
              <a:rPr lang="en-US" altLang="ko-KR" i="1" baseline="-25000" dirty="0">
                <a:sym typeface="Wingdings" panose="05000000000000000000" pitchFamily="2" charset="2"/>
              </a:rPr>
              <a:t>t</a:t>
            </a:r>
            <a:r>
              <a:rPr lang="en-US" altLang="ko-KR" i="1" dirty="0">
                <a:sym typeface="Wingdings" panose="05000000000000000000" pitchFamily="2" charset="2"/>
              </a:rPr>
              <a:t> </a:t>
            </a:r>
            <a:r>
              <a:rPr lang="en-US" altLang="ko-KR" dirty="0"/>
              <a:t>} </a:t>
            </a:r>
            <a:r>
              <a:rPr lang="en-US" altLang="ko-KR" dirty="0">
                <a:sym typeface="Wingdings" panose="05000000000000000000" pitchFamily="2" charset="2"/>
              </a:rPr>
              <a:t> { </a:t>
            </a:r>
            <a:r>
              <a:rPr lang="en-US" altLang="ko-KR" dirty="0"/>
              <a:t>1 X</a:t>
            </a:r>
            <a:r>
              <a:rPr lang="en-US" altLang="ko-KR" i="1" dirty="0">
                <a:sym typeface="Wingdings" panose="05000000000000000000" pitchFamily="2" charset="2"/>
              </a:rPr>
              <a:t> N</a:t>
            </a:r>
            <a:r>
              <a:rPr lang="en-US" altLang="ko-KR" i="1" baseline="-25000" dirty="0">
                <a:sym typeface="Wingdings" panose="05000000000000000000" pitchFamily="2" charset="2"/>
              </a:rPr>
              <a:t>b</a:t>
            </a:r>
            <a:r>
              <a:rPr lang="en-US" altLang="ko-KR" i="1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}  { </a:t>
            </a:r>
            <a:r>
              <a:rPr lang="en-US" altLang="ko-KR" dirty="0"/>
              <a:t>1 X</a:t>
            </a:r>
            <a:r>
              <a:rPr lang="en-US" altLang="ko-KR" i="1" dirty="0">
                <a:sym typeface="Wingdings" panose="05000000000000000000" pitchFamily="2" charset="2"/>
              </a:rPr>
              <a:t> N</a:t>
            </a:r>
            <a:r>
              <a:rPr lang="en-US" altLang="ko-KR" i="1" baseline="-25000" dirty="0">
                <a:sym typeface="Wingdings" panose="05000000000000000000" pitchFamily="2" charset="2"/>
              </a:rPr>
              <a:t>j</a:t>
            </a:r>
            <a:r>
              <a:rPr lang="en-US" altLang="ko-KR" i="1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}  [ 1 X 3 ] for position vector or [ 3 X 3 ] for link orientation</a:t>
            </a:r>
          </a:p>
          <a:p>
            <a:pPr lvl="1"/>
            <a:r>
              <a:rPr lang="en-US" altLang="ko-KR" i="1" dirty="0">
                <a:sym typeface="Wingdings" panose="05000000000000000000" pitchFamily="2" charset="2"/>
              </a:rPr>
              <a:t>N</a:t>
            </a:r>
            <a:r>
              <a:rPr lang="en-US" altLang="ko-KR" i="1" baseline="-25000" dirty="0">
                <a:sym typeface="Wingdings" panose="05000000000000000000" pitchFamily="2" charset="2"/>
              </a:rPr>
              <a:t>t</a:t>
            </a:r>
            <a:r>
              <a:rPr lang="en-US" altLang="ko-KR" dirty="0">
                <a:sym typeface="Wingdings" panose="05000000000000000000" pitchFamily="2" charset="2"/>
              </a:rPr>
              <a:t>: Number of time discretization</a:t>
            </a:r>
          </a:p>
          <a:p>
            <a:pPr lvl="1"/>
            <a:r>
              <a:rPr lang="en-US" altLang="ko-KR" i="1" dirty="0">
                <a:sym typeface="Wingdings" panose="05000000000000000000" pitchFamily="2" charset="2"/>
              </a:rPr>
              <a:t>N</a:t>
            </a:r>
            <a:r>
              <a:rPr lang="en-US" altLang="ko-KR" i="1" baseline="-25000" dirty="0">
                <a:sym typeface="Wingdings" panose="05000000000000000000" pitchFamily="2" charset="2"/>
              </a:rPr>
              <a:t>b</a:t>
            </a:r>
            <a:r>
              <a:rPr lang="en-US" altLang="ko-KR" dirty="0">
                <a:sym typeface="Wingdings" panose="05000000000000000000" pitchFamily="2" charset="2"/>
              </a:rPr>
              <a:t>: Number of branches</a:t>
            </a:r>
          </a:p>
          <a:p>
            <a:pPr lvl="1"/>
            <a:r>
              <a:rPr lang="en-US" altLang="ko-KR" i="1" dirty="0">
                <a:sym typeface="Wingdings" panose="05000000000000000000" pitchFamily="2" charset="2"/>
              </a:rPr>
              <a:t>N</a:t>
            </a:r>
            <a:r>
              <a:rPr lang="en-US" altLang="ko-KR" i="1" baseline="-25000" dirty="0">
                <a:sym typeface="Wingdings" panose="05000000000000000000" pitchFamily="2" charset="2"/>
              </a:rPr>
              <a:t>j</a:t>
            </a:r>
            <a:r>
              <a:rPr lang="en-US" altLang="ko-KR" dirty="0">
                <a:sym typeface="Wingdings" panose="05000000000000000000" pitchFamily="2" charset="2"/>
              </a:rPr>
              <a:t>: Number of joints</a:t>
            </a:r>
            <a:endParaRPr lang="en-US" altLang="ko-KR" i="1" dirty="0"/>
          </a:p>
          <a:p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B7545C-A80A-489C-A797-5F73F45BF6C4}"/>
              </a:ext>
            </a:extLst>
          </p:cNvPr>
          <p:cNvSpPr txBox="1"/>
          <p:nvPr/>
        </p:nvSpPr>
        <p:spPr>
          <a:xfrm>
            <a:off x="7025555" y="5111479"/>
            <a:ext cx="46043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Use </a:t>
            </a:r>
            <a:r>
              <a:rPr lang="en-US" altLang="ko-KR" dirty="0" err="1"/>
              <a:t>getPos</a:t>
            </a:r>
            <a:r>
              <a:rPr lang="en-US" altLang="ko-KR" dirty="0"/>
              <a:t>(‘Link Name’), </a:t>
            </a:r>
            <a:r>
              <a:rPr lang="en-US" altLang="ko-KR" dirty="0" err="1"/>
              <a:t>getOrien</a:t>
            </a:r>
            <a:r>
              <a:rPr lang="en-US" altLang="ko-KR" dirty="0"/>
              <a:t>, </a:t>
            </a:r>
            <a:r>
              <a:rPr lang="en-US" altLang="ko-KR" dirty="0" err="1"/>
              <a:t>getEndPts</a:t>
            </a:r>
            <a:r>
              <a:rPr lang="en-US" altLang="ko-KR" dirty="0"/>
              <a:t>(‘Link Name’) and </a:t>
            </a:r>
            <a:r>
              <a:rPr lang="en-US" altLang="ko-KR" dirty="0" err="1"/>
              <a:t>getCoM</a:t>
            </a:r>
            <a:r>
              <a:rPr lang="ko-KR" altLang="en-US" dirty="0"/>
              <a:t> </a:t>
            </a:r>
            <a:r>
              <a:rPr lang="en-US" altLang="ko-KR" dirty="0"/>
              <a:t>to easily access the forward kinematics data</a:t>
            </a:r>
          </a:p>
          <a:p>
            <a:r>
              <a:rPr lang="en-US" altLang="ko-KR" dirty="0"/>
              <a:t>(Future work)</a:t>
            </a:r>
          </a:p>
        </p:txBody>
      </p:sp>
    </p:spTree>
    <p:extLst>
      <p:ext uri="{BB962C8B-B14F-4D97-AF65-F5344CB8AC3E}">
        <p14:creationId xmlns:p14="http://schemas.microsoft.com/office/powerpoint/2010/main" val="2027648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B5868-69DB-47CC-91DA-09C0313AC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/>
              <a:t>Structure of visualization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735F06-7EB9-4080-804D-4C55CE39F173}"/>
              </a:ext>
            </a:extLst>
          </p:cNvPr>
          <p:cNvSpPr txBox="1"/>
          <p:nvPr/>
        </p:nvSpPr>
        <p:spPr>
          <a:xfrm>
            <a:off x="6096000" y="2469712"/>
            <a:ext cx="1656470" cy="64633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Make robot structure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9D3B9A-19CE-4F35-8531-ED0AB2969414}"/>
              </a:ext>
            </a:extLst>
          </p:cNvPr>
          <p:cNvSpPr txBox="1"/>
          <p:nvPr/>
        </p:nvSpPr>
        <p:spPr>
          <a:xfrm>
            <a:off x="8652501" y="2608212"/>
            <a:ext cx="1102856" cy="3693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Animate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63A6CA-D145-4068-8392-807A68C9961E}"/>
              </a:ext>
            </a:extLst>
          </p:cNvPr>
          <p:cNvSpPr txBox="1"/>
          <p:nvPr/>
        </p:nvSpPr>
        <p:spPr>
          <a:xfrm>
            <a:off x="692543" y="4388288"/>
            <a:ext cx="539231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u="sng" dirty="0"/>
              <a:t>Options (user can choose)</a:t>
            </a:r>
            <a:r>
              <a:rPr lang="en-US" altLang="ko-KR" dirty="0"/>
              <a:t>:</a:t>
            </a:r>
          </a:p>
          <a:p>
            <a:r>
              <a:rPr lang="en-US" altLang="ko-KR" dirty="0"/>
              <a:t>FictitiousOn – turns on and off fictitious branch (default: dash line with fictitious on)</a:t>
            </a:r>
          </a:p>
          <a:p>
            <a:r>
              <a:rPr lang="en-US" altLang="ko-KR" dirty="0" err="1"/>
              <a:t>CoMOn</a:t>
            </a:r>
            <a:r>
              <a:rPr lang="en-US" altLang="ko-KR" dirty="0"/>
              <a:t> – turns on and off CoM markers in animation </a:t>
            </a:r>
          </a:p>
          <a:p>
            <a:r>
              <a:rPr lang="en-US" altLang="ko-KR" dirty="0"/>
              <a:t>is2D – use it for 2D (sagittal plane) model to expand to 3D</a:t>
            </a:r>
            <a:endParaRPr lang="ko-KR" alt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22E1F6C-5002-4E2A-9E66-D4FC83A2834D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5014457" y="2792878"/>
            <a:ext cx="1081543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16124E8-59FA-4732-A5F5-32C3116CA43A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7752470" y="2792878"/>
            <a:ext cx="900031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590EAB3-320B-449B-A772-6BB6B56221A2}"/>
              </a:ext>
            </a:extLst>
          </p:cNvPr>
          <p:cNvSpPr txBox="1"/>
          <p:nvPr/>
        </p:nvSpPr>
        <p:spPr>
          <a:xfrm>
            <a:off x="6412302" y="4388287"/>
            <a:ext cx="586011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u="sng" dirty="0"/>
              <a:t>Limitation</a:t>
            </a:r>
            <a:r>
              <a:rPr lang="en-US" altLang="ko-KR" dirty="0"/>
              <a:t>:</a:t>
            </a:r>
          </a:p>
          <a:p>
            <a:pPr marL="342900" indent="-342900">
              <a:buAutoNum type="alphaUcParenR"/>
            </a:pPr>
            <a:r>
              <a:rPr lang="en-US" altLang="ko-KR" dirty="0"/>
              <a:t>System must be a humanoid (symmetric)</a:t>
            </a:r>
          </a:p>
          <a:p>
            <a:r>
              <a:rPr lang="en-US" altLang="ko-KR" dirty="0"/>
              <a:t>    a1) to connect right and left legs and arms </a:t>
            </a:r>
          </a:p>
          <a:p>
            <a:r>
              <a:rPr lang="en-US" altLang="ko-KR" dirty="0"/>
              <a:t>    a2) to add lateral body</a:t>
            </a:r>
          </a:p>
          <a:p>
            <a:r>
              <a:rPr lang="en-US" altLang="ko-KR" dirty="0"/>
              <a:t>To make it more general, user can manually define how links are connected (need more time to do this)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0A410F-9F3E-48A3-8643-8CDBAB929D6B}"/>
              </a:ext>
            </a:extLst>
          </p:cNvPr>
          <p:cNvSpPr/>
          <p:nvPr/>
        </p:nvSpPr>
        <p:spPr>
          <a:xfrm>
            <a:off x="692543" y="1885326"/>
            <a:ext cx="4161750" cy="230832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ko-KR" b="1" dirty="0"/>
              <a:t>Input Data</a:t>
            </a:r>
            <a:r>
              <a:rPr lang="en-US" altLang="ko-KR" dirty="0"/>
              <a:t>:</a:t>
            </a:r>
          </a:p>
          <a:p>
            <a:r>
              <a:rPr lang="en-US" altLang="ko-KR" dirty="0"/>
              <a:t>FK result: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Joint position trajectory along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Joint CoM trajectory along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System CoM trajectory along time</a:t>
            </a:r>
          </a:p>
          <a:p>
            <a:r>
              <a:rPr lang="en-US" altLang="ko-KR" dirty="0"/>
              <a:t>System Info: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DH 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Height (for anthropometry ratio)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638C644-1B95-4460-8944-8ECB0A31C0FF}"/>
              </a:ext>
            </a:extLst>
          </p:cNvPr>
          <p:cNvCxnSpPr>
            <a:cxnSpLocks/>
          </p:cNvCxnSpPr>
          <p:nvPr/>
        </p:nvCxnSpPr>
        <p:spPr>
          <a:xfrm>
            <a:off x="0" y="4388288"/>
            <a:ext cx="121840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934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03460-521E-4D70-9B24-61E430E0D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/>
              <a:t>Algorithm of visualization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73C97A-50A8-485F-94A6-3F443A84C334}"/>
              </a:ext>
            </a:extLst>
          </p:cNvPr>
          <p:cNvSpPr txBox="1"/>
          <p:nvPr/>
        </p:nvSpPr>
        <p:spPr>
          <a:xfrm>
            <a:off x="838201" y="2091496"/>
            <a:ext cx="4365267" cy="120032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/>
              <a:t>Sort Data</a:t>
            </a:r>
            <a:r>
              <a:rPr lang="en-US" altLang="ko-KR" dirty="0"/>
              <a:t>:</a:t>
            </a:r>
          </a:p>
          <a:p>
            <a:r>
              <a:rPr lang="en-US" altLang="ko-KR" dirty="0"/>
              <a:t>Cell </a:t>
            </a:r>
            <a:r>
              <a:rPr lang="en-US" altLang="ko-KR" dirty="0">
                <a:sym typeface="Wingdings" panose="05000000000000000000" pitchFamily="2" charset="2"/>
              </a:rPr>
              <a:t> Array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If 2D, render to 3D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If FictitiousOn, include fictitious branch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D383E0-4AB0-4517-8D92-968DE0388BAE}"/>
              </a:ext>
            </a:extLst>
          </p:cNvPr>
          <p:cNvSpPr txBox="1"/>
          <p:nvPr/>
        </p:nvSpPr>
        <p:spPr>
          <a:xfrm>
            <a:off x="838188" y="3933790"/>
            <a:ext cx="4365267" cy="92333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/>
              <a:t>Building structure</a:t>
            </a:r>
            <a:r>
              <a:rPr lang="en-US" altLang="ko-KR" dirty="0"/>
              <a:t>:</a:t>
            </a:r>
          </a:p>
          <a:p>
            <a:r>
              <a:rPr lang="en-US" altLang="ko-KR" dirty="0"/>
              <a:t>Define which index in the array to connect with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69ECB3-2481-437F-96DE-C0FB132E803A}"/>
              </a:ext>
            </a:extLst>
          </p:cNvPr>
          <p:cNvSpPr txBox="1"/>
          <p:nvPr/>
        </p:nvSpPr>
        <p:spPr>
          <a:xfrm>
            <a:off x="838200" y="5499086"/>
            <a:ext cx="4365255" cy="64633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/>
              <a:t>Animation</a:t>
            </a:r>
            <a:r>
              <a:rPr lang="en-US" altLang="ko-KR" dirty="0"/>
              <a:t>:</a:t>
            </a:r>
          </a:p>
          <a:p>
            <a:r>
              <a:rPr lang="en-US" altLang="ko-KR" dirty="0"/>
              <a:t>For </a:t>
            </a:r>
            <a:r>
              <a:rPr lang="en-US" altLang="ko-KR" i="1" dirty="0"/>
              <a:t>N</a:t>
            </a:r>
            <a:r>
              <a:rPr lang="en-US" altLang="ko-KR" i="1" baseline="-25000" dirty="0"/>
              <a:t>t</a:t>
            </a:r>
            <a:r>
              <a:rPr lang="en-US" altLang="ko-KR" dirty="0"/>
              <a:t> recursively draw the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4F8DF5-DB83-4FE6-A7E2-7D093B1103E7}"/>
              </a:ext>
            </a:extLst>
          </p:cNvPr>
          <p:cNvSpPr txBox="1"/>
          <p:nvPr/>
        </p:nvSpPr>
        <p:spPr>
          <a:xfrm>
            <a:off x="5546211" y="2080705"/>
            <a:ext cx="54572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A) Determine types of branch:</a:t>
            </a:r>
          </a:p>
          <a:p>
            <a:r>
              <a:rPr lang="en-US" altLang="ko-KR" dirty="0"/>
              <a:t>    a1) arm, legs, spines, neck, fictitious</a:t>
            </a:r>
          </a:p>
          <a:p>
            <a:r>
              <a:rPr lang="en-US" altLang="ko-KR" dirty="0"/>
              <a:t>B) Determine parent/child relationship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2B2E40-B82F-45FD-9014-D4B7B50F83CB}"/>
              </a:ext>
            </a:extLst>
          </p:cNvPr>
          <p:cNvSpPr txBox="1"/>
          <p:nvPr/>
        </p:nvSpPr>
        <p:spPr>
          <a:xfrm>
            <a:off x="5546211" y="3922999"/>
            <a:ext cx="62257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A) Connect between first index of each arms and legs</a:t>
            </a:r>
          </a:p>
          <a:p>
            <a:r>
              <a:rPr lang="en-US" altLang="ko-KR" dirty="0"/>
              <a:t>B) Connect each joint in a branch</a:t>
            </a:r>
          </a:p>
          <a:p>
            <a:r>
              <a:rPr lang="en-US" altLang="ko-KR" dirty="0"/>
              <a:t>C) Connect according to parent/child relationship</a:t>
            </a:r>
            <a:endParaRPr lang="ko-KR" alt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621ABB3-6277-4FB4-8D59-FF862368EED3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3020822" y="3291825"/>
            <a:ext cx="13" cy="64196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2A28215-3051-44BB-8135-62ECA980AC01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3020822" y="4857120"/>
            <a:ext cx="6" cy="64196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7CEE8D9-53F9-419B-B09D-7F50E7BD145A}"/>
              </a:ext>
            </a:extLst>
          </p:cNvPr>
          <p:cNvCxnSpPr>
            <a:cxnSpLocks/>
          </p:cNvCxnSpPr>
          <p:nvPr/>
        </p:nvCxnSpPr>
        <p:spPr>
          <a:xfrm>
            <a:off x="3020821" y="1690688"/>
            <a:ext cx="0" cy="39001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5D3A15F-B88F-41A7-8E48-78BE60DCDAF7}"/>
              </a:ext>
            </a:extLst>
          </p:cNvPr>
          <p:cNvCxnSpPr>
            <a:cxnSpLocks/>
          </p:cNvCxnSpPr>
          <p:nvPr/>
        </p:nvCxnSpPr>
        <p:spPr>
          <a:xfrm>
            <a:off x="3020821" y="6145417"/>
            <a:ext cx="0" cy="39001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4440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yVideoFile">
            <a:hlinkClick r:id="" action="ppaction://media"/>
            <a:extLst>
              <a:ext uri="{FF2B5EF4-FFF2-40B4-BE49-F238E27FC236}">
                <a16:creationId xmlns:a16="http://schemas.microsoft.com/office/drawing/2014/main" id="{E992A9B8-3162-45E0-83A7-1222F12E438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63802" y="2135962"/>
            <a:ext cx="5334000" cy="4000500"/>
          </a:xfrm>
          <a:prstGeom prst="rect">
            <a:avLst/>
          </a:prstGeom>
        </p:spPr>
      </p:pic>
      <p:pic>
        <p:nvPicPr>
          <p:cNvPr id="5" name="Throwing_showthis">
            <a:hlinkClick r:id="" action="ppaction://media"/>
            <a:extLst>
              <a:ext uri="{FF2B5EF4-FFF2-40B4-BE49-F238E27FC236}">
                <a16:creationId xmlns:a16="http://schemas.microsoft.com/office/drawing/2014/main" id="{E89DF11D-6915-482B-8FCE-6FF7BB052040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353300" y="1072102"/>
            <a:ext cx="4000500" cy="5334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259FECE-46CA-4A7A-8345-7744CD56C69D}"/>
              </a:ext>
            </a:extLst>
          </p:cNvPr>
          <p:cNvSpPr txBox="1"/>
          <p:nvPr/>
        </p:nvSpPr>
        <p:spPr>
          <a:xfrm>
            <a:off x="2229171" y="5951796"/>
            <a:ext cx="3203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Darwin Steppable Animation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AEBD8-DD7B-4AFB-AF58-1238D9021C01}"/>
              </a:ext>
            </a:extLst>
          </p:cNvPr>
          <p:cNvSpPr txBox="1"/>
          <p:nvPr/>
        </p:nvSpPr>
        <p:spPr>
          <a:xfrm>
            <a:off x="7921949" y="5951796"/>
            <a:ext cx="3203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Human Throwing Animation</a:t>
            </a:r>
            <a:endParaRPr lang="ko-KR" alt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2616C4-B992-4457-BB54-D83C6A918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/>
              <a:t>Output of visualization</a:t>
            </a:r>
            <a:endParaRPr lang="ko-KR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BCE63E-21CB-4D72-B25C-7C92A5530B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6200000">
            <a:off x="3770605" y="2785837"/>
            <a:ext cx="3267075" cy="225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437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75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796FA-9558-4717-BEC4-E781A44A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On-going work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0155F2-7AE6-467A-B90D-ECABDFA91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Visualization of 3D object</a:t>
            </a:r>
          </a:p>
          <a:p>
            <a:pPr lvl="1"/>
            <a:r>
              <a:rPr lang="en-US" altLang="ko-KR" dirty="0"/>
              <a:t>Jose: working on making function to make 3D objects</a:t>
            </a:r>
          </a:p>
          <a:p>
            <a:pPr lvl="1"/>
            <a:r>
              <a:rPr lang="en-US" altLang="ko-KR" dirty="0"/>
              <a:t>Modify method to sort forward kinematics data </a:t>
            </a:r>
          </a:p>
          <a:p>
            <a:pPr lvl="2"/>
            <a:r>
              <a:rPr lang="en-US" altLang="ko-KR" dirty="0"/>
              <a:t>For example, instead of just outputting only position and structure of a system, need orientation, position, thicknesses of links, and structure of the system</a:t>
            </a:r>
          </a:p>
          <a:p>
            <a:endParaRPr lang="en-US" altLang="ko-KR" dirty="0"/>
          </a:p>
          <a:p>
            <a:r>
              <a:rPr lang="en-US" altLang="ko-KR" dirty="0"/>
              <a:t>Minor issue: camera angle</a:t>
            </a:r>
            <a:endParaRPr lang="ko-KR" altLang="en-US" dirty="0"/>
          </a:p>
        </p:txBody>
      </p:sp>
      <p:pic>
        <p:nvPicPr>
          <p:cNvPr id="5" name="Picture 4" descr="Chart, surface chart&#10;&#10;Description automatically generated">
            <a:extLst>
              <a:ext uri="{FF2B5EF4-FFF2-40B4-BE49-F238E27FC236}">
                <a16:creationId xmlns:a16="http://schemas.microsoft.com/office/drawing/2014/main" id="{AAF2D4D2-CE96-4950-BC82-B975D4BF162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19"/>
          <a:stretch/>
        </p:blipFill>
        <p:spPr>
          <a:xfrm>
            <a:off x="7249459" y="3737563"/>
            <a:ext cx="4000928" cy="2962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716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CC5F2-2BD6-4A9F-9AFA-05D260C7C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Ignore from below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7D8A9-D4E0-464F-9648-FC6DBAC40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435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B5868-69DB-47CC-91DA-09C0313AC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/>
              <a:t>Structure of the code </a:t>
            </a:r>
            <a:br>
              <a:rPr lang="en-US" altLang="ko-KR" dirty="0"/>
            </a:br>
            <a:r>
              <a:rPr lang="en-US" altLang="ko-KR" sz="3600" dirty="0"/>
              <a:t>(forward kinematics +visualization)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47800B-C5E6-4C50-9EBB-AFA4064D607E}"/>
              </a:ext>
            </a:extLst>
          </p:cNvPr>
          <p:cNvSpPr txBox="1"/>
          <p:nvPr/>
        </p:nvSpPr>
        <p:spPr>
          <a:xfrm>
            <a:off x="838200" y="2396035"/>
            <a:ext cx="180494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Read and sort input data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735F06-7EB9-4080-804D-4C55CE39F173}"/>
              </a:ext>
            </a:extLst>
          </p:cNvPr>
          <p:cNvSpPr txBox="1"/>
          <p:nvPr/>
        </p:nvSpPr>
        <p:spPr>
          <a:xfrm>
            <a:off x="4883426" y="2396035"/>
            <a:ext cx="180494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Forward Kinematics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9D3B9A-19CE-4F35-8531-ED0AB2969414}"/>
              </a:ext>
            </a:extLst>
          </p:cNvPr>
          <p:cNvSpPr txBox="1"/>
          <p:nvPr/>
        </p:nvSpPr>
        <p:spPr>
          <a:xfrm>
            <a:off x="8928652" y="2534534"/>
            <a:ext cx="180494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Visualization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9FC8C-4BF8-4615-8C4A-6F066A13FC8E}"/>
              </a:ext>
            </a:extLst>
          </p:cNvPr>
          <p:cNvSpPr txBox="1"/>
          <p:nvPr/>
        </p:nvSpPr>
        <p:spPr>
          <a:xfrm>
            <a:off x="4883426" y="3365531"/>
            <a:ext cx="321100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Outputs w.r.t global frame in cartesian space: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Joint 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link orientation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CoM of each links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CoM of the whole system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D782DCA-2DF3-47E5-8F06-32C1257D501E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2643147" y="2719201"/>
            <a:ext cx="2240279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985224A-6C54-486A-BA99-D9EFE255B39E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6688373" y="2719200"/>
            <a:ext cx="2240279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B303CB5-3A80-40D4-95DE-DB696B09DD2C}"/>
              </a:ext>
            </a:extLst>
          </p:cNvPr>
          <p:cNvSpPr txBox="1"/>
          <p:nvPr/>
        </p:nvSpPr>
        <p:spPr>
          <a:xfrm>
            <a:off x="838200" y="3309359"/>
            <a:ext cx="378278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Inputs: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DH 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Link length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Mass properties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Joint angles (Optional)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Code will automatically handle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if there is no joint angles, joint angles = 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D7505E-D24D-4F9A-B320-9F634A0D53CE}"/>
              </a:ext>
            </a:extLst>
          </p:cNvPr>
          <p:cNvSpPr txBox="1"/>
          <p:nvPr/>
        </p:nvSpPr>
        <p:spPr>
          <a:xfrm>
            <a:off x="8928652" y="3244550"/>
            <a:ext cx="25841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Outputs: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Animation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AE1F39-3ADA-479E-9629-77B6F99F28DE}"/>
              </a:ext>
            </a:extLst>
          </p:cNvPr>
          <p:cNvSpPr txBox="1"/>
          <p:nvPr/>
        </p:nvSpPr>
        <p:spPr>
          <a:xfrm>
            <a:off x="9040483" y="5037826"/>
            <a:ext cx="20415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Change the structure to make it more clear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612737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B5868-69DB-47CC-91DA-09C0313AC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/>
              <a:t>Structure of visualization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47800B-C5E6-4C50-9EBB-AFA4064D607E}"/>
              </a:ext>
            </a:extLst>
          </p:cNvPr>
          <p:cNvSpPr txBox="1"/>
          <p:nvPr/>
        </p:nvSpPr>
        <p:spPr>
          <a:xfrm>
            <a:off x="703690" y="1818311"/>
            <a:ext cx="180494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highlight>
                  <a:srgbClr val="FFFF00"/>
                </a:highlight>
              </a:rPr>
              <a:t>Read and sort input data</a:t>
            </a:r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735F06-7EB9-4080-804D-4C55CE39F173}"/>
              </a:ext>
            </a:extLst>
          </p:cNvPr>
          <p:cNvSpPr txBox="1"/>
          <p:nvPr/>
        </p:nvSpPr>
        <p:spPr>
          <a:xfrm>
            <a:off x="4756205" y="1818312"/>
            <a:ext cx="180494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Make robot structure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9D3B9A-19CE-4F35-8531-ED0AB2969414}"/>
              </a:ext>
            </a:extLst>
          </p:cNvPr>
          <p:cNvSpPr txBox="1"/>
          <p:nvPr/>
        </p:nvSpPr>
        <p:spPr>
          <a:xfrm>
            <a:off x="8892209" y="1956811"/>
            <a:ext cx="180494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Animate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63A6CA-D145-4068-8392-807A68C9961E}"/>
              </a:ext>
            </a:extLst>
          </p:cNvPr>
          <p:cNvSpPr txBox="1"/>
          <p:nvPr/>
        </p:nvSpPr>
        <p:spPr>
          <a:xfrm>
            <a:off x="703689" y="2641257"/>
            <a:ext cx="539231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Input Data</a:t>
            </a:r>
            <a:r>
              <a:rPr lang="en-US" altLang="ko-KR" dirty="0"/>
              <a:t>:</a:t>
            </a:r>
          </a:p>
          <a:p>
            <a:r>
              <a:rPr lang="en-US" altLang="ko-KR" dirty="0"/>
              <a:t>FK result:</a:t>
            </a:r>
          </a:p>
          <a:p>
            <a:r>
              <a:rPr lang="en-US" altLang="ko-KR" dirty="0"/>
              <a:t>DH Table</a:t>
            </a:r>
          </a:p>
          <a:p>
            <a:r>
              <a:rPr lang="en-US" altLang="ko-KR" dirty="0"/>
              <a:t>Joint position trajectory along time</a:t>
            </a:r>
          </a:p>
          <a:p>
            <a:r>
              <a:rPr lang="en-US" altLang="ko-KR" dirty="0"/>
              <a:t>Joint CoM trajectory along time</a:t>
            </a:r>
          </a:p>
          <a:p>
            <a:r>
              <a:rPr lang="en-US" altLang="ko-KR" dirty="0"/>
              <a:t>System CoM trajectory along time</a:t>
            </a:r>
          </a:p>
          <a:p>
            <a:r>
              <a:rPr lang="en-US" altLang="ko-KR" dirty="0"/>
              <a:t>System </a:t>
            </a:r>
          </a:p>
          <a:p>
            <a:r>
              <a:rPr lang="en-US" altLang="ko-KR" dirty="0"/>
              <a:t>Height</a:t>
            </a:r>
          </a:p>
          <a:p>
            <a:endParaRPr lang="en-US" altLang="ko-KR" dirty="0"/>
          </a:p>
          <a:p>
            <a:r>
              <a:rPr lang="en-US" altLang="ko-KR" b="1" dirty="0"/>
              <a:t>Options </a:t>
            </a:r>
            <a:r>
              <a:rPr lang="en-US" altLang="ko-KR" dirty="0"/>
              <a:t>(user can choose):</a:t>
            </a:r>
          </a:p>
          <a:p>
            <a:r>
              <a:rPr lang="en-US" altLang="ko-KR" dirty="0"/>
              <a:t>FictitiousOn – turns on and off fictitious branch (default: dash line with fictitious on)</a:t>
            </a:r>
          </a:p>
          <a:p>
            <a:r>
              <a:rPr lang="en-US" altLang="ko-KR" dirty="0" err="1"/>
              <a:t>CoMOn</a:t>
            </a:r>
            <a:r>
              <a:rPr lang="en-US" altLang="ko-KR" dirty="0"/>
              <a:t> – turns on and off CoM markers in animation </a:t>
            </a:r>
          </a:p>
          <a:p>
            <a:r>
              <a:rPr lang="en-US" altLang="ko-KR" dirty="0"/>
              <a:t>is2D – use it for 2D (sagittal plane) model to expand to 3D</a:t>
            </a:r>
            <a:endParaRPr lang="ko-KR" alt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22E1F6C-5002-4E2A-9E66-D4FC83A2834D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2508637" y="2141477"/>
            <a:ext cx="2247568" cy="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16124E8-59FA-4732-A5F5-32C3116CA43A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6561152" y="2141477"/>
            <a:ext cx="2331057" cy="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590EAB3-320B-449B-A772-6BB6B56221A2}"/>
              </a:ext>
            </a:extLst>
          </p:cNvPr>
          <p:cNvSpPr txBox="1"/>
          <p:nvPr/>
        </p:nvSpPr>
        <p:spPr>
          <a:xfrm>
            <a:off x="6096000" y="2641257"/>
            <a:ext cx="586011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Limitation:</a:t>
            </a:r>
          </a:p>
          <a:p>
            <a:pPr marL="342900" indent="-342900">
              <a:buAutoNum type="alphaUcParenR"/>
            </a:pPr>
            <a:r>
              <a:rPr lang="en-US" altLang="ko-KR" dirty="0"/>
              <a:t>System must be a humanoid (symmetric)</a:t>
            </a:r>
          </a:p>
          <a:p>
            <a:r>
              <a:rPr lang="en-US" altLang="ko-KR" dirty="0"/>
              <a:t>    a1) to connect right and left legs and arms </a:t>
            </a:r>
          </a:p>
          <a:p>
            <a:r>
              <a:rPr lang="en-US" altLang="ko-KR" dirty="0"/>
              <a:t>    a2) to add lateral body</a:t>
            </a:r>
          </a:p>
          <a:p>
            <a:r>
              <a:rPr lang="en-US" altLang="ko-KR" dirty="0"/>
              <a:t>To make it more general, user can manually define how links are connected (need more time to do this) </a:t>
            </a:r>
          </a:p>
        </p:txBody>
      </p:sp>
    </p:spTree>
    <p:extLst>
      <p:ext uri="{BB962C8B-B14F-4D97-AF65-F5344CB8AC3E}">
        <p14:creationId xmlns:p14="http://schemas.microsoft.com/office/powerpoint/2010/main" val="752620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16165</TotalTime>
  <Words>840</Words>
  <Application>Microsoft Office PowerPoint</Application>
  <PresentationFormat>Widescreen</PresentationFormat>
  <Paragraphs>145</Paragraphs>
  <Slides>14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Theme</vt:lpstr>
      <vt:lpstr>Forward Kinematics and Visualization</vt:lpstr>
      <vt:lpstr>Table of contents</vt:lpstr>
      <vt:lpstr>Structure of the code  (forward kinematics + visualization)</vt:lpstr>
      <vt:lpstr>Algorithm of forward kinematics</vt:lpstr>
      <vt:lpstr>e.g. OP 1 and OP 3</vt:lpstr>
      <vt:lpstr>e.g. Human</vt:lpstr>
      <vt:lpstr>Output of forward kinematics</vt:lpstr>
      <vt:lpstr>Structure of visualization</vt:lpstr>
      <vt:lpstr>Algorithm of visualization</vt:lpstr>
      <vt:lpstr>Output of visualization</vt:lpstr>
      <vt:lpstr>On-going work</vt:lpstr>
      <vt:lpstr>Ignore from below</vt:lpstr>
      <vt:lpstr>Structure of the code  (forward kinematics +visualization)</vt:lpstr>
      <vt:lpstr>Structure of visualization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Forward Kinematics and Visualization</dc:title>
  <dc:creator>Hyun Seok Shin</dc:creator>
  <cp:lastModifiedBy>Hyun Seok Shin</cp:lastModifiedBy>
  <cp:revision>74</cp:revision>
  <dcterms:created xsi:type="dcterms:W3CDTF">2020-11-03T18:48:10Z</dcterms:created>
  <dcterms:modified xsi:type="dcterms:W3CDTF">2020-11-23T18:30:04Z</dcterms:modified>
</cp:coreProperties>
</file>